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5757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F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6">
            <a:extLst>
              <a:ext uri="{FF2B5EF4-FFF2-40B4-BE49-F238E27FC236}">
                <a16:creationId xmlns:a16="http://schemas.microsoft.com/office/drawing/2014/main" id="{794AF1C2-6ED6-7F74-2DB2-8C8220AA4B38}"/>
              </a:ext>
            </a:extLst>
          </p:cNvPr>
          <p:cNvSpPr/>
          <p:nvPr/>
        </p:nvSpPr>
        <p:spPr>
          <a:xfrm>
            <a:off x="5989320" y="767334"/>
            <a:ext cx="2834640" cy="3977640"/>
          </a:xfrm>
          <a:prstGeom prst="rect">
            <a:avLst/>
          </a:prstGeom>
          <a:solidFill>
            <a:srgbClr val="1E3968"/>
          </a:solidFill>
          <a:ln w="12700">
            <a:solidFill>
              <a:srgbClr val="2D507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4864" cy="2103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85800" y="13533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A0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·  PROJECT MANAGEMENT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719072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PMIS Automation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Tool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85800" y="3218688"/>
            <a:ext cx="25603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3310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Navigation Flow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0" y="960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MODULES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99632" y="1417320"/>
            <a:ext cx="292608" cy="292608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99632" y="1417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b="1" dirty="0"/>
          </a:p>
        </p:txBody>
      </p:sp>
      <p:sp>
        <p:nvSpPr>
          <p:cNvPr id="13" name="Text 11"/>
          <p:cNvSpPr/>
          <p:nvPr/>
        </p:nvSpPr>
        <p:spPr>
          <a:xfrm>
            <a:off x="6565392" y="14599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Authentication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99632" y="1965960"/>
            <a:ext cx="292608" cy="292608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99632" y="1965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65392" y="42062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99632" y="2514600"/>
            <a:ext cx="292608" cy="292608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199632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63868" y="198348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Screen &amp; Dashboard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99632" y="3063240"/>
            <a:ext cx="292608" cy="292608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199632" y="3063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63142" y="257127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99632" y="3611880"/>
            <a:ext cx="292608" cy="292608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199632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65392" y="30947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99632" y="4160520"/>
            <a:ext cx="292608" cy="292608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199632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65392" y="36393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Management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21E3A"/>
          </a:solidFill>
          <a:ln w="12700">
            <a:solidFill>
              <a:srgbClr val="121E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PMIS Automation Governance Tool</a:t>
            </a:r>
            <a:endParaRPr lang="en-US" sz="800" dirty="0"/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F0279D8D-CC2A-A4C0-A7BF-A7883386D712}"/>
              </a:ext>
            </a:extLst>
          </p:cNvPr>
          <p:cNvSpPr/>
          <p:nvPr/>
        </p:nvSpPr>
        <p:spPr>
          <a:xfrm>
            <a:off x="6015228" y="790956"/>
            <a:ext cx="283464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FLOW DIAGRAM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&amp; Module Structure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0" y="868680"/>
            <a:ext cx="2194560" cy="594360"/>
          </a:xfrm>
          <a:prstGeom prst="rect">
            <a:avLst/>
          </a:prstGeom>
          <a:solidFill>
            <a:srgbClr val="1A2F5A"/>
          </a:solidFill>
          <a:ln w="15240">
            <a:solidFill>
              <a:srgbClr val="1A2F5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474720" y="868680"/>
            <a:ext cx="21945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Screen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868680"/>
            <a:ext cx="1920240" cy="594360"/>
          </a:xfrm>
          <a:prstGeom prst="rect">
            <a:avLst/>
          </a:prstGeom>
          <a:solidFill>
            <a:srgbClr val="E8F0FB"/>
          </a:solidFill>
          <a:ln w="15240">
            <a:solidFill>
              <a:srgbClr val="E8F0F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583680" y="868680"/>
            <a:ext cx="19202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Password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1165860"/>
            <a:ext cx="914400" cy="0"/>
          </a:xfrm>
          <a:prstGeom prst="line">
            <a:avLst/>
          </a:prstGeom>
          <a:noFill/>
          <a:ln w="22860">
            <a:solidFill>
              <a:srgbClr val="5B8D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572000" y="1463040"/>
            <a:ext cx="0" cy="457200"/>
          </a:xfrm>
          <a:prstGeom prst="line">
            <a:avLst/>
          </a:prstGeom>
          <a:noFill/>
          <a:ln w="22860">
            <a:solidFill>
              <a:srgbClr val="5B8D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474720" y="1920240"/>
            <a:ext cx="2194560" cy="594360"/>
          </a:xfrm>
          <a:prstGeom prst="rect">
            <a:avLst/>
          </a:prstGeom>
          <a:solidFill>
            <a:srgbClr val="0D7C8F"/>
          </a:solidFill>
          <a:ln w="15240">
            <a:solidFill>
              <a:srgbClr val="0D7C8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474720" y="1920240"/>
            <a:ext cx="21945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Screen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2514600"/>
            <a:ext cx="0" cy="493776"/>
          </a:xfrm>
          <a:prstGeom prst="line">
            <a:avLst/>
          </a:prstGeom>
          <a:noFill/>
          <a:ln w="22860">
            <a:solidFill>
              <a:srgbClr val="5B8D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760220" y="3008376"/>
            <a:ext cx="5623560" cy="0"/>
          </a:xfrm>
          <a:prstGeom prst="line">
            <a:avLst/>
          </a:prstGeom>
          <a:noFill/>
          <a:ln w="2286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760220" y="3008376"/>
            <a:ext cx="0" cy="9144"/>
          </a:xfrm>
          <a:prstGeom prst="line">
            <a:avLst/>
          </a:prstGeom>
          <a:noFill/>
          <a:ln w="22860">
            <a:solidFill>
              <a:srgbClr val="5B8D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914400" y="3026663"/>
            <a:ext cx="1691640" cy="713232"/>
          </a:xfrm>
          <a:prstGeom prst="rect">
            <a:avLst/>
          </a:prstGeom>
          <a:solidFill>
            <a:srgbClr val="243B6E"/>
          </a:solidFill>
          <a:ln w="15240">
            <a:solidFill>
              <a:srgbClr val="243B6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14400" y="3017520"/>
            <a:ext cx="16916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34740" y="3008376"/>
            <a:ext cx="0" cy="9144"/>
          </a:xfrm>
          <a:prstGeom prst="line">
            <a:avLst/>
          </a:prstGeom>
          <a:noFill/>
          <a:ln w="22860">
            <a:solidFill>
              <a:srgbClr val="5B8D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634740" y="3008376"/>
            <a:ext cx="0" cy="9144"/>
          </a:xfrm>
          <a:prstGeom prst="line">
            <a:avLst/>
          </a:prstGeom>
          <a:noFill/>
          <a:ln w="22860">
            <a:solidFill>
              <a:srgbClr val="5B8D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788919" y="3026663"/>
            <a:ext cx="1691640" cy="713232"/>
          </a:xfrm>
          <a:prstGeom prst="rect">
            <a:avLst/>
          </a:prstGeom>
          <a:solidFill>
            <a:srgbClr val="243B6E"/>
          </a:solidFill>
          <a:ln w="15240">
            <a:solidFill>
              <a:srgbClr val="243B6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788920" y="3017520"/>
            <a:ext cx="16916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509260" y="3008376"/>
            <a:ext cx="0" cy="9144"/>
          </a:xfrm>
          <a:prstGeom prst="line">
            <a:avLst/>
          </a:prstGeom>
          <a:noFill/>
          <a:ln w="22860">
            <a:solidFill>
              <a:srgbClr val="5B8D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509260" y="3008376"/>
            <a:ext cx="0" cy="9144"/>
          </a:xfrm>
          <a:prstGeom prst="line">
            <a:avLst/>
          </a:prstGeom>
          <a:noFill/>
          <a:ln w="22860">
            <a:solidFill>
              <a:srgbClr val="5B8D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663438" y="3026663"/>
            <a:ext cx="1691640" cy="713232"/>
          </a:xfrm>
          <a:prstGeom prst="rect">
            <a:avLst/>
          </a:prstGeom>
          <a:solidFill>
            <a:srgbClr val="243B6E"/>
          </a:solidFill>
          <a:ln w="15240">
            <a:solidFill>
              <a:srgbClr val="243B6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663440" y="3017520"/>
            <a:ext cx="16916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83780" y="3008376"/>
            <a:ext cx="0" cy="9144"/>
          </a:xfrm>
          <a:prstGeom prst="line">
            <a:avLst/>
          </a:prstGeom>
          <a:noFill/>
          <a:ln w="22860">
            <a:solidFill>
              <a:srgbClr val="5B8D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383780" y="3008376"/>
            <a:ext cx="0" cy="9144"/>
          </a:xfrm>
          <a:prstGeom prst="line">
            <a:avLst/>
          </a:prstGeom>
          <a:noFill/>
          <a:ln w="22860">
            <a:solidFill>
              <a:srgbClr val="5B8D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537960" y="3017520"/>
            <a:ext cx="1691640" cy="713232"/>
          </a:xfrm>
          <a:prstGeom prst="rect">
            <a:avLst/>
          </a:prstGeom>
          <a:solidFill>
            <a:srgbClr val="243B6E"/>
          </a:solidFill>
          <a:ln w="15240">
            <a:solidFill>
              <a:srgbClr val="243B6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537960" y="3017520"/>
            <a:ext cx="16916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PMIS Automation Governance Tool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2"/>
          <p:cNvSpPr/>
          <p:nvPr/>
        </p:nvSpPr>
        <p:spPr>
          <a:xfrm>
            <a:off x="3566160" y="1993392"/>
            <a:ext cx="3017520" cy="0"/>
          </a:xfrm>
          <a:prstGeom prst="line">
            <a:avLst/>
          </a:prstGeom>
          <a:noFill/>
          <a:ln w="1524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Versioning Overview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1508760" cy="530352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150876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</a:t>
            </a:r>
          </a:p>
          <a:p>
            <a:pPr marL="0" indent="0" algn="ctr">
              <a:buNone/>
            </a:pPr>
            <a:r>
              <a:rPr lang="en-US" sz="1100" b="1" i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i="1" dirty="0">
              <a:solidFill>
                <a:schemeClr val="accent4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1783080" y="1179576"/>
            <a:ext cx="365760" cy="0"/>
          </a:xfrm>
          <a:prstGeom prst="line">
            <a:avLst/>
          </a:prstGeom>
          <a:noFill/>
          <a:ln w="20320">
            <a:solidFill>
              <a:srgbClr val="5B8D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148840" y="914400"/>
            <a:ext cx="1508760" cy="530352"/>
          </a:xfrm>
          <a:prstGeom prst="rect">
            <a:avLst/>
          </a:prstGeom>
          <a:solidFill>
            <a:srgbClr val="243B6E"/>
          </a:solidFill>
          <a:ln w="12700">
            <a:solidFill>
              <a:srgbClr val="243B6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148840" y="914400"/>
            <a:ext cx="150876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Milestones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49040" y="914400"/>
            <a:ext cx="1508760" cy="530352"/>
          </a:xfrm>
          <a:prstGeom prst="rect">
            <a:avLst/>
          </a:prstGeom>
          <a:solidFill>
            <a:srgbClr val="243B6E"/>
          </a:solidFill>
          <a:ln w="12700">
            <a:solidFill>
              <a:srgbClr val="243B6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749040" y="914400"/>
            <a:ext cx="150876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Activities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0" y="1179576"/>
            <a:ext cx="91440" cy="0"/>
          </a:xfrm>
          <a:prstGeom prst="line">
            <a:avLst/>
          </a:prstGeom>
          <a:noFill/>
          <a:ln w="1524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4320" y="1737360"/>
            <a:ext cx="1508760" cy="53035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74320" y="1737360"/>
            <a:ext cx="150876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Project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28700" y="1444752"/>
            <a:ext cx="0" cy="292608"/>
          </a:xfrm>
          <a:prstGeom prst="line">
            <a:avLst/>
          </a:prstGeom>
          <a:noFill/>
          <a:ln w="20320">
            <a:solidFill>
              <a:srgbClr val="5B8D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783080" y="2002536"/>
            <a:ext cx="365760" cy="0"/>
          </a:xfrm>
          <a:prstGeom prst="line">
            <a:avLst/>
          </a:prstGeom>
          <a:noFill/>
          <a:ln w="20320">
            <a:solidFill>
              <a:srgbClr val="5B8D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148840" y="1737360"/>
            <a:ext cx="1417320" cy="530352"/>
          </a:xfrm>
          <a:prstGeom prst="rect">
            <a:avLst/>
          </a:prstGeom>
          <a:solidFill>
            <a:srgbClr val="243B6E"/>
          </a:solidFill>
          <a:ln w="12700">
            <a:solidFill>
              <a:srgbClr val="243B6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148840" y="1737360"/>
            <a:ext cx="14173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/ Add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0" y="1737360"/>
            <a:ext cx="1417320" cy="530352"/>
          </a:xfrm>
          <a:prstGeom prst="rect">
            <a:avLst/>
          </a:prstGeom>
          <a:solidFill>
            <a:srgbClr val="243B6E"/>
          </a:solidFill>
          <a:ln w="12700">
            <a:solidFill>
              <a:srgbClr val="243B6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57600" y="1737360"/>
            <a:ext cx="14173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/ Add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66360" y="1737360"/>
            <a:ext cx="1417320" cy="530352"/>
          </a:xfrm>
          <a:prstGeom prst="rect">
            <a:avLst/>
          </a:prstGeom>
          <a:solidFill>
            <a:srgbClr val="243B6E"/>
          </a:solidFill>
          <a:ln w="12700">
            <a:solidFill>
              <a:srgbClr val="243B6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166360" y="1737360"/>
            <a:ext cx="14173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Tasks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Sub-Tasks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28700" y="2267712"/>
            <a:ext cx="0" cy="137160"/>
          </a:xfrm>
          <a:prstGeom prst="line">
            <a:avLst/>
          </a:prstGeom>
          <a:noFill/>
          <a:ln w="2032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1028700" y="2325392"/>
            <a:ext cx="0" cy="338328"/>
          </a:xfrm>
          <a:prstGeom prst="line">
            <a:avLst/>
          </a:prstGeom>
          <a:noFill/>
          <a:ln w="20320">
            <a:solidFill>
              <a:srgbClr val="5B8D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74320" y="2685993"/>
            <a:ext cx="1583509" cy="548640"/>
          </a:xfrm>
          <a:prstGeom prst="rect">
            <a:avLst/>
          </a:prstGeom>
          <a:solidFill>
            <a:srgbClr val="C9A84C"/>
          </a:solidFill>
          <a:ln w="15240">
            <a:solidFill>
              <a:srgbClr val="A07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76497" y="2678398"/>
            <a:ext cx="1581332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Project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857829" y="2953511"/>
            <a:ext cx="291011" cy="0"/>
          </a:xfrm>
          <a:prstGeom prst="line">
            <a:avLst/>
          </a:prstGeom>
          <a:noFill/>
          <a:ln w="20320">
            <a:solidFill>
              <a:srgbClr val="5B8D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148840" y="2668511"/>
            <a:ext cx="1980474" cy="548640"/>
          </a:xfrm>
          <a:prstGeom prst="rect">
            <a:avLst/>
          </a:prstGeom>
          <a:solidFill>
            <a:srgbClr val="E8F0FB"/>
          </a:solidFill>
          <a:ln w="15240">
            <a:solidFill>
              <a:srgbClr val="90AAC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107474" y="2655935"/>
            <a:ext cx="202184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Project Created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072819" y="2929737"/>
            <a:ext cx="2056495" cy="236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edited further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22603" y="2938039"/>
            <a:ext cx="297722" cy="0"/>
          </a:xfrm>
          <a:prstGeom prst="line">
            <a:avLst/>
          </a:prstGeom>
          <a:noFill/>
          <a:ln w="20320">
            <a:solidFill>
              <a:srgbClr val="5B8D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420325" y="2651325"/>
            <a:ext cx="1761856" cy="548640"/>
          </a:xfrm>
          <a:prstGeom prst="rect">
            <a:avLst/>
          </a:prstGeom>
          <a:solidFill>
            <a:srgbClr val="243B6E"/>
          </a:solidFill>
          <a:ln w="12700">
            <a:solidFill>
              <a:srgbClr val="243B6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420325" y="2670778"/>
            <a:ext cx="1761856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Version from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Project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25076" y="3493008"/>
            <a:ext cx="3002641" cy="1417320"/>
          </a:xfrm>
          <a:prstGeom prst="rect">
            <a:avLst/>
          </a:prstGeom>
          <a:solidFill>
            <a:srgbClr val="EEF4FC"/>
          </a:solidFill>
          <a:ln w="12700">
            <a:solidFill>
              <a:srgbClr val="B0C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5425076" y="3488436"/>
            <a:ext cx="3002643" cy="253375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425077" y="3488436"/>
            <a:ext cx="3002642" cy="269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516517" y="3803337"/>
            <a:ext cx="29112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 of the Baseline Project is created with all details retained. Vendors and users may add or update tasks and sub-tasks within the version. The Baseline Project remains intact as the original reference throughout project delivery.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3493008"/>
            <a:ext cx="4389120" cy="1371600"/>
          </a:xfrm>
          <a:prstGeom prst="rect">
            <a:avLst/>
          </a:prstGeom>
          <a:solidFill>
            <a:srgbClr val="F5F8FF"/>
          </a:solidFill>
          <a:ln w="12700">
            <a:solidFill>
              <a:srgbClr val="C8D8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274320" y="3493008"/>
            <a:ext cx="4389120" cy="237744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274320" y="349300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84048" y="3867912"/>
            <a:ext cx="201168" cy="20116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40080" y="38221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project setup steps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84048" y="4197096"/>
            <a:ext cx="201168" cy="201168"/>
          </a:xfrm>
          <a:prstGeom prst="rect">
            <a:avLst/>
          </a:prstGeom>
          <a:solidFill>
            <a:srgbClr val="243B6E"/>
          </a:solidFill>
          <a:ln w="12700">
            <a:solidFill>
              <a:srgbClr val="243B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40080" y="41513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project fields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84048" y="4526280"/>
            <a:ext cx="201168" cy="201168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40080" y="4480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state transition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578608" y="3867912"/>
            <a:ext cx="201168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2834640" y="38221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/ release action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578608" y="4197096"/>
            <a:ext cx="201168" cy="201168"/>
          </a:xfrm>
          <a:prstGeom prst="rect">
            <a:avLst/>
          </a:prstGeom>
          <a:solidFill>
            <a:srgbClr val="E8F0FB"/>
          </a:solidFill>
          <a:ln w="12700">
            <a:solidFill>
              <a:srgbClr val="90AA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2834640" y="41513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reference (Baseline)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PMIS Automation Governance Tool</a:t>
            </a:r>
            <a:endParaRPr lang="en-US" sz="800" dirty="0"/>
          </a:p>
        </p:txBody>
      </p:sp>
      <p:sp>
        <p:nvSpPr>
          <p:cNvPr id="26" name="Shape 35">
            <a:extLst>
              <a:ext uri="{FF2B5EF4-FFF2-40B4-BE49-F238E27FC236}">
                <a16:creationId xmlns:a16="http://schemas.microsoft.com/office/drawing/2014/main" id="{D8111421-9CDB-9A46-4A72-9C7F8D384D1D}"/>
              </a:ext>
            </a:extLst>
          </p:cNvPr>
          <p:cNvSpPr/>
          <p:nvPr/>
        </p:nvSpPr>
        <p:spPr>
          <a:xfrm>
            <a:off x="6995160" y="1735488"/>
            <a:ext cx="2052867" cy="16649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IN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C8EF6A7-4ABC-E3E1-4E3A-38BD801860C6}"/>
              </a:ext>
            </a:extLst>
          </p:cNvPr>
          <p:cNvSpPr txBox="1"/>
          <p:nvPr/>
        </p:nvSpPr>
        <p:spPr>
          <a:xfrm>
            <a:off x="6995160" y="1794272"/>
            <a:ext cx="20528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Add/Edit Milestones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Add/Edit Activities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Add Edit Tasks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Add/Edit Sub Tasks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Provide Comments on each Activity and Task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Provide Attachments for each Activity and Task</a:t>
            </a:r>
          </a:p>
        </p:txBody>
      </p:sp>
      <p:sp>
        <p:nvSpPr>
          <p:cNvPr id="57" name="Shape 36">
            <a:extLst>
              <a:ext uri="{FF2B5EF4-FFF2-40B4-BE49-F238E27FC236}">
                <a16:creationId xmlns:a16="http://schemas.microsoft.com/office/drawing/2014/main" id="{17188A8E-5C1D-EFE4-8A66-3C44715FF407}"/>
              </a:ext>
            </a:extLst>
          </p:cNvPr>
          <p:cNvSpPr/>
          <p:nvPr/>
        </p:nvSpPr>
        <p:spPr>
          <a:xfrm>
            <a:off x="6995160" y="1470165"/>
            <a:ext cx="2052867" cy="285338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61A435B-C607-4F17-04EE-B7834E5D4964}"/>
              </a:ext>
            </a:extLst>
          </p:cNvPr>
          <p:cNvSpPr txBox="1"/>
          <p:nvPr/>
        </p:nvSpPr>
        <p:spPr>
          <a:xfrm>
            <a:off x="6995159" y="1460361"/>
            <a:ext cx="2052867" cy="27699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VERSIONED PROJECT DETAILS</a:t>
            </a:r>
          </a:p>
        </p:txBody>
      </p:sp>
      <p:sp>
        <p:nvSpPr>
          <p:cNvPr id="59" name="Shape 32">
            <a:extLst>
              <a:ext uri="{FF2B5EF4-FFF2-40B4-BE49-F238E27FC236}">
                <a16:creationId xmlns:a16="http://schemas.microsoft.com/office/drawing/2014/main" id="{F65B4DAD-4DBB-F9B2-B1C0-5CA33126219B}"/>
              </a:ext>
            </a:extLst>
          </p:cNvPr>
          <p:cNvSpPr/>
          <p:nvPr/>
        </p:nvSpPr>
        <p:spPr>
          <a:xfrm>
            <a:off x="6182180" y="2923926"/>
            <a:ext cx="812979" cy="0"/>
          </a:xfrm>
          <a:prstGeom prst="line">
            <a:avLst/>
          </a:prstGeom>
          <a:noFill/>
          <a:ln w="20320">
            <a:solidFill>
              <a:srgbClr val="5B8D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202</Words>
  <Application>Microsoft Office PowerPoint</Application>
  <PresentationFormat>On-screen Show (16:9)</PresentationFormat>
  <Paragraphs>63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PMIS Automation Governance Tool</dc:title>
  <dc:subject>PptxGenJS Presentation</dc:subject>
  <dc:creator>EY Project Team</dc:creator>
  <cp:lastModifiedBy>Saikat Aich</cp:lastModifiedBy>
  <cp:revision>11</cp:revision>
  <dcterms:created xsi:type="dcterms:W3CDTF">2026-04-15T06:23:41Z</dcterms:created>
  <dcterms:modified xsi:type="dcterms:W3CDTF">2026-04-15T08:48:30Z</dcterms:modified>
</cp:coreProperties>
</file>